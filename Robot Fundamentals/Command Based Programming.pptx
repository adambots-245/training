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59" r:id="rId6"/>
    <p:sldId id="260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34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74AE-FE4C-4270-B1D5-2BD00F97B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74489"/>
            <a:ext cx="9144000" cy="1135473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2033F-2F46-4F90-9D74-1989ACD88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3074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C691A-9E2B-4DF0-86AE-C7BD6783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8C72C-4CFD-4DB4-A10C-57DEC39F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CF44-3C5C-40B6-A829-1E7DEBE7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AdamBots Atom Logo">
            <a:extLst>
              <a:ext uri="{FF2B5EF4-FFF2-40B4-BE49-F238E27FC236}">
                <a16:creationId xmlns:a16="http://schemas.microsoft.com/office/drawing/2014/main" id="{0405DD3E-87C1-4C54-8B4D-E804AEBDD5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2238375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damBots Logo Text">
            <a:extLst>
              <a:ext uri="{FF2B5EF4-FFF2-40B4-BE49-F238E27FC236}">
                <a16:creationId xmlns:a16="http://schemas.microsoft.com/office/drawing/2014/main" id="{63615114-9280-4ADF-9DAC-A899BAE08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39713"/>
            <a:ext cx="5048250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4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F0BD6-0E7F-4B7F-B930-A76A85F3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5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C6AB9-8BD0-4C75-A694-D5D674017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884"/>
            <a:ext cx="10515600" cy="51150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F73C-716A-4119-9ED9-E0ADCCD93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FE7C0-FD9C-4B16-ACDF-FD1B2187E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08FF3-9177-4BA7-B86B-F2323DC0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36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0BF0-2582-4289-8BBA-10771BF2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39820-4959-4D16-9B61-07E383B40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7237A-ADAE-4457-81B0-FF7B1C22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45B7E-AF62-4D37-AE19-0D07FDF5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5A98E-4F94-4943-A544-21B0963C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2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CAED1-31FE-44C3-AF24-37C6F9E4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08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456EC-043F-4EA0-B8C5-61B7DB3D8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5407"/>
            <a:ext cx="5181600" cy="5031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90E4F-1BFE-4E40-8042-AA254E41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5407"/>
            <a:ext cx="5181600" cy="5031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42001-55FE-4E1D-86B7-A3F765229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8456B-29CD-4CB1-85F8-E41AB4F4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1DC87-7FA1-40F9-A6D6-59A14949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4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B9C0F-5CEC-4035-A834-309D6910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008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DA550-7273-4A8C-8E56-961D06D32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327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E1053-3956-4A84-9863-CA68E6AF0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42652"/>
            <a:ext cx="5157787" cy="4147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2071B-CECC-4C8A-A308-6C1948F2E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327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7F6176-174A-4502-8355-4E5FF4F31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42652"/>
            <a:ext cx="5183188" cy="4147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5C9D4A-561D-4CFA-8C21-11B63A43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599483-FF41-45B2-A9E1-F760B0638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1705F-4426-4617-A07F-D13ADA8E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4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7345C-7065-4972-8C54-CF17D31A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03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2418C-EEE7-4C9A-B3D7-34B6E01F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77580-5548-4ACF-BC62-03EB42793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BD288-0144-4424-B02A-63B7ADD06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3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3E2E87-883B-4160-8166-004A62B5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96689D-15A8-48CB-BA74-56E2E949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5FC20-80B2-4A1C-9824-C75BC1F2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9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2192-7C66-46A4-9D52-DCDFEA9A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4A2C2-2F39-42A9-9FA2-CF5FDD6D9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A160E-C9F7-4CF1-AAD0-FD1CC9523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61E88-46ED-4CD4-82B4-514E0B33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C5E8B-5D2A-4422-B532-1C9B3A7CE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F68E0-7093-44C0-8239-36420558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7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E8A7-1AED-445F-A86E-3CDC29882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8FE80-F5E7-433E-AACA-DF85663BA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0E843-AA58-4A49-ACB1-A088BD637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0499B-EBEA-4505-869C-E34A3C88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2EBFA-D75B-4933-B31F-612B335B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65539-0467-443F-8673-000702F0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73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0C73-493E-4AD8-AE8E-42720FE9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646E9-E3FF-4798-9BA8-28AE1D83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8A08D-5C29-4A4C-8D3C-AB3794A4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CFDA-4D26-47D9-8E3A-8C37F378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A210C-8E65-4B3B-A249-DF7FD6F3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ADFC4-E650-4A5D-9CB6-0B3116BF7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EB287-2CDC-48D4-958B-E1581C659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BFC8F-249A-414C-A1C2-CACD2CE4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0F7EB-24EE-4B4E-97D1-1051FDA15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ACBD0-EF8B-42A4-BC64-88EA2CCF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3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381C95-467F-4AFB-B478-D6DD8862D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1E44C-436E-4439-9F03-EBD0E7583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1172A-E479-48A1-98E3-167647C62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758AF-3E05-4997-A3EF-F6C96E4A16E9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A5830-A79E-40D4-AC5A-0054A71DB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D019-57F3-48F2-9175-4EDFBE638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5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F346-5367-46B1-A517-984F47D313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Command Based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FC8FE-E1F7-48BE-A3E7-7B99CE4458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2020 Command Based Approach</a:t>
            </a:r>
          </a:p>
        </p:txBody>
      </p:sp>
    </p:spTree>
    <p:extLst>
      <p:ext uri="{BB962C8B-B14F-4D97-AF65-F5344CB8AC3E}">
        <p14:creationId xmlns:p14="http://schemas.microsoft.com/office/powerpoint/2010/main" val="305071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78F70-E8B9-4B94-B80A-7A0FC1A5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Commands and Subsystems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108E9-E582-4979-9639-631222D140BD}"/>
              </a:ext>
            </a:extLst>
          </p:cNvPr>
          <p:cNvSpPr txBox="1"/>
          <p:nvPr/>
        </p:nvSpPr>
        <p:spPr>
          <a:xfrm>
            <a:off x="885645" y="1656272"/>
            <a:ext cx="2622430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433FD-47D6-45E2-B370-8B237BD94790}"/>
              </a:ext>
            </a:extLst>
          </p:cNvPr>
          <p:cNvSpPr txBox="1"/>
          <p:nvPr/>
        </p:nvSpPr>
        <p:spPr>
          <a:xfrm>
            <a:off x="885645" y="2432649"/>
            <a:ext cx="26224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High-level robot actions that may utilize methods defined by the Subsystems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DriveForward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ShootBall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IntakeBall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FAC69-FAF7-47CC-A6F0-28074AABB70C}"/>
              </a:ext>
            </a:extLst>
          </p:cNvPr>
          <p:cNvSpPr txBox="1"/>
          <p:nvPr/>
        </p:nvSpPr>
        <p:spPr>
          <a:xfrm>
            <a:off x="8246852" y="1656272"/>
            <a:ext cx="2622430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Subsystems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37699-613D-4E49-959F-335F0D1C3EDA}"/>
              </a:ext>
            </a:extLst>
          </p:cNvPr>
          <p:cNvSpPr txBox="1"/>
          <p:nvPr/>
        </p:nvSpPr>
        <p:spPr>
          <a:xfrm>
            <a:off x="8246852" y="2432649"/>
            <a:ext cx="26224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unit of robot organization.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DriveTrain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Elevator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Shooter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92F6F-FEFB-4412-9B85-5FC5EEE6C79E}"/>
              </a:ext>
            </a:extLst>
          </p:cNvPr>
          <p:cNvSpPr txBox="1"/>
          <p:nvPr/>
        </p:nvSpPr>
        <p:spPr>
          <a:xfrm>
            <a:off x="3508075" y="5793439"/>
            <a:ext cx="4527430" cy="52322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 err="1">
                <a:latin typeface="Consolas" panose="020B0609020204030204" pitchFamily="49" charset="0"/>
              </a:rPr>
              <a:t>driveForwardCommand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aButton.whenPressed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intakeSubsystem</a:t>
            </a:r>
            <a:r>
              <a:rPr lang="en-US" sz="1400" dirty="0">
                <a:latin typeface="Consolas" panose="020B0609020204030204" pitchFamily="49" charset="0"/>
              </a:rPr>
              <a:t>::run);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429741-FDD7-43D9-92E0-2703E67902DF}"/>
              </a:ext>
            </a:extLst>
          </p:cNvPr>
          <p:cNvCxnSpPr>
            <a:endCxn id="5" idx="2"/>
          </p:cNvCxnSpPr>
          <p:nvPr/>
        </p:nvCxnSpPr>
        <p:spPr>
          <a:xfrm>
            <a:off x="3565585" y="1857555"/>
            <a:ext cx="4681267" cy="302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0CB4883-B982-4A4C-8DBF-3C2580BF7420}"/>
              </a:ext>
            </a:extLst>
          </p:cNvPr>
          <p:cNvSpPr txBox="1"/>
          <p:nvPr/>
        </p:nvSpPr>
        <p:spPr>
          <a:xfrm>
            <a:off x="5106836" y="1468578"/>
            <a:ext cx="2622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Utilizes </a:t>
            </a:r>
          </a:p>
        </p:txBody>
      </p:sp>
    </p:spTree>
    <p:extLst>
      <p:ext uri="{BB962C8B-B14F-4D97-AF65-F5344CB8AC3E}">
        <p14:creationId xmlns:p14="http://schemas.microsoft.com/office/powerpoint/2010/main" val="3283052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C0F4-D23E-4ACA-94E8-7F79C6042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Command Scheduler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3CC056-CA6E-471C-BBB8-677691B3D1AC}"/>
              </a:ext>
            </a:extLst>
          </p:cNvPr>
          <p:cNvSpPr txBox="1"/>
          <p:nvPr/>
        </p:nvSpPr>
        <p:spPr>
          <a:xfrm>
            <a:off x="838200" y="1150189"/>
            <a:ext cx="2622430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Scheduler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D1E430-AFE6-48CC-A504-D3514853464E}"/>
              </a:ext>
            </a:extLst>
          </p:cNvPr>
          <p:cNvSpPr/>
          <p:nvPr/>
        </p:nvSpPr>
        <p:spPr>
          <a:xfrm>
            <a:off x="878457" y="1834551"/>
            <a:ext cx="2582173" cy="38761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A73F3-8713-46D2-9B49-508BCC5F609E}"/>
              </a:ext>
            </a:extLst>
          </p:cNvPr>
          <p:cNvSpPr txBox="1"/>
          <p:nvPr/>
        </p:nvSpPr>
        <p:spPr>
          <a:xfrm>
            <a:off x="1016480" y="2116871"/>
            <a:ext cx="2334883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ACD8B3-58CF-4B0C-AFD8-97460EEFBD65}"/>
              </a:ext>
            </a:extLst>
          </p:cNvPr>
          <p:cNvSpPr txBox="1"/>
          <p:nvPr/>
        </p:nvSpPr>
        <p:spPr>
          <a:xfrm>
            <a:off x="1016480" y="2807814"/>
            <a:ext cx="2334883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B49DA-DD50-47EC-840A-14289571CF58}"/>
              </a:ext>
            </a:extLst>
          </p:cNvPr>
          <p:cNvSpPr txBox="1"/>
          <p:nvPr/>
        </p:nvSpPr>
        <p:spPr>
          <a:xfrm>
            <a:off x="1016480" y="3468633"/>
            <a:ext cx="2334883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AC6E19-F6DA-464D-86A4-A689199FB5D1}"/>
              </a:ext>
            </a:extLst>
          </p:cNvPr>
          <p:cNvSpPr txBox="1"/>
          <p:nvPr/>
        </p:nvSpPr>
        <p:spPr>
          <a:xfrm>
            <a:off x="1016480" y="4152995"/>
            <a:ext cx="2334883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185F77-562B-40B9-9E6A-8E990A297B93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>
            <a:off x="2183922" y="3216437"/>
            <a:ext cx="0" cy="252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84E4DF-421B-4991-BB76-508B2DF82AE7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>
            <a:off x="2183922" y="2525494"/>
            <a:ext cx="0" cy="282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89781FE-06B2-4BD6-9961-A9018903AFF4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>
            <a:off x="2183922" y="3877256"/>
            <a:ext cx="0" cy="275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28AD0FC-DCB7-40E9-8E33-484CA9BDFE59}"/>
              </a:ext>
            </a:extLst>
          </p:cNvPr>
          <p:cNvCxnSpPr>
            <a:cxnSpLocks/>
            <a:stCxn id="10" idx="1"/>
          </p:cNvCxnSpPr>
          <p:nvPr/>
        </p:nvCxnSpPr>
        <p:spPr>
          <a:xfrm>
            <a:off x="2183922" y="4561618"/>
            <a:ext cx="0" cy="343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EB18419-C6CA-418A-8ACC-F7F902D70200}"/>
              </a:ext>
            </a:extLst>
          </p:cNvPr>
          <p:cNvSpPr txBox="1"/>
          <p:nvPr/>
        </p:nvSpPr>
        <p:spPr>
          <a:xfrm>
            <a:off x="1600200" y="4849650"/>
            <a:ext cx="116744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E4D3EC-3193-4F35-801A-733846C003E5}"/>
              </a:ext>
            </a:extLst>
          </p:cNvPr>
          <p:cNvSpPr txBox="1"/>
          <p:nvPr/>
        </p:nvSpPr>
        <p:spPr>
          <a:xfrm>
            <a:off x="5101086" y="1081758"/>
            <a:ext cx="4527430" cy="95410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Robot.java - </a:t>
            </a:r>
            <a:r>
              <a:rPr lang="en-US" sz="1400" dirty="0" err="1">
                <a:latin typeface="Consolas" panose="020B0609020204030204" pitchFamily="49" charset="0"/>
              </a:rPr>
              <a:t>robotPeriodic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pPr algn="ctr"/>
            <a:endParaRPr lang="en-US" sz="1400" dirty="0">
              <a:latin typeface="Consolas" panose="020B0609020204030204" pitchFamily="49" charset="0"/>
            </a:endParaRPr>
          </a:p>
          <a:p>
            <a:pPr algn="ctr"/>
            <a:r>
              <a:rPr lang="en-US" sz="1400" dirty="0" err="1">
                <a:latin typeface="Consolas" panose="020B0609020204030204" pitchFamily="49" charset="0"/>
              </a:rPr>
              <a:t>CommandScheduler.getInstance</a:t>
            </a:r>
            <a:r>
              <a:rPr lang="en-US" sz="1400" dirty="0">
                <a:latin typeface="Consolas" panose="020B0609020204030204" pitchFamily="49" charset="0"/>
              </a:rPr>
              <a:t>().run();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</a:rPr>
              <a:t>// Runs every 20 </a:t>
            </a:r>
            <a:r>
              <a:rPr lang="en-US" sz="1400" dirty="0" err="1">
                <a:latin typeface="Consolas" panose="020B0609020204030204" pitchFamily="49" charset="0"/>
              </a:rPr>
              <a:t>ms</a:t>
            </a:r>
            <a:r>
              <a:rPr lang="en-US" sz="1400" dirty="0">
                <a:latin typeface="Consolas" panose="020B0609020204030204" pitchFamily="49" charset="0"/>
              </a:rPr>
              <a:t> (50 cycles / sec)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9CE6669-6BCC-4B60-AD96-12EC45507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147" y="2217971"/>
            <a:ext cx="2200275" cy="4200525"/>
          </a:xfrm>
          <a:prstGeom prst="rect">
            <a:avLst/>
          </a:prstGeom>
        </p:spPr>
      </p:pic>
      <p:sp>
        <p:nvSpPr>
          <p:cNvPr id="28" name="Callout: Line 27">
            <a:extLst>
              <a:ext uri="{FF2B5EF4-FFF2-40B4-BE49-F238E27FC236}">
                <a16:creationId xmlns:a16="http://schemas.microsoft.com/office/drawing/2014/main" id="{6171892C-4F31-429C-AEF0-8798DF2A708D}"/>
              </a:ext>
            </a:extLst>
          </p:cNvPr>
          <p:cNvSpPr/>
          <p:nvPr/>
        </p:nvSpPr>
        <p:spPr>
          <a:xfrm>
            <a:off x="8540150" y="3163019"/>
            <a:ext cx="1374476" cy="427494"/>
          </a:xfrm>
          <a:prstGeom prst="borderCallout1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Called Only Once</a:t>
            </a:r>
          </a:p>
        </p:txBody>
      </p:sp>
    </p:spTree>
    <p:extLst>
      <p:ext uri="{BB962C8B-B14F-4D97-AF65-F5344CB8AC3E}">
        <p14:creationId xmlns:p14="http://schemas.microsoft.com/office/powerpoint/2010/main" val="125540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691A3-C2E5-4AA8-B663-1E5F83DF8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Initial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4AB6D-9B74-45E9-BB64-5CC054730A4A}"/>
              </a:ext>
            </a:extLst>
          </p:cNvPr>
          <p:cNvSpPr txBox="1"/>
          <p:nvPr/>
        </p:nvSpPr>
        <p:spPr>
          <a:xfrm>
            <a:off x="310549" y="1883809"/>
            <a:ext cx="459500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robotInit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b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m_robotContainer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RobotContainer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robotPeriodic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CommandScheduler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getInstance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7BA66-F8C6-4BA3-B366-F2823D5E2E7D}"/>
              </a:ext>
            </a:extLst>
          </p:cNvPr>
          <p:cNvSpPr txBox="1"/>
          <p:nvPr/>
        </p:nvSpPr>
        <p:spPr>
          <a:xfrm>
            <a:off x="368059" y="1335992"/>
            <a:ext cx="2622430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Robot.java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7A98CC-2BCB-47AA-A091-684A74973D06}"/>
              </a:ext>
            </a:extLst>
          </p:cNvPr>
          <p:cNvSpPr txBox="1"/>
          <p:nvPr/>
        </p:nvSpPr>
        <p:spPr>
          <a:xfrm>
            <a:off x="5112589" y="1800376"/>
            <a:ext cx="695289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RobotContainer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// The robot's subsystems and commands are defined here...</a:t>
            </a:r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	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RobotMap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GondolaMotor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GondolaCommand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gondolaCommand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400" dirty="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RobotContainer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setupDefaultCommands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61AFEF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configureButtonBindings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400" dirty="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setupDefaultCommands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setDefaultCommand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GondolaCommand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()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deaden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Buttons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secondaryJoystick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getX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Hand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kLeft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103D2-FEF8-4128-BFE7-5A81CC92407E}"/>
              </a:ext>
            </a:extLst>
          </p:cNvPr>
          <p:cNvSpPr txBox="1"/>
          <p:nvPr/>
        </p:nvSpPr>
        <p:spPr>
          <a:xfrm>
            <a:off x="5112589" y="1235351"/>
            <a:ext cx="2622430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RobotContainer.java</a:t>
            </a: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36EDC297-8961-455D-B339-040C0EF8600F}"/>
              </a:ext>
            </a:extLst>
          </p:cNvPr>
          <p:cNvSpPr/>
          <p:nvPr/>
        </p:nvSpPr>
        <p:spPr>
          <a:xfrm>
            <a:off x="9112370" y="3351109"/>
            <a:ext cx="2855344" cy="1571699"/>
          </a:xfrm>
          <a:prstGeom prst="borderCallout1">
            <a:avLst>
              <a:gd name="adj1" fmla="val 18750"/>
              <a:gd name="adj2" fmla="val -8333"/>
              <a:gd name="adj3" fmla="val 89082"/>
              <a:gd name="adj4" fmla="val -2504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command that will automatically be scheduled when no other command is currently using the subsystem</a:t>
            </a:r>
          </a:p>
        </p:txBody>
      </p:sp>
    </p:spTree>
    <p:extLst>
      <p:ext uri="{BB962C8B-B14F-4D97-AF65-F5344CB8AC3E}">
        <p14:creationId xmlns:p14="http://schemas.microsoft.com/office/powerpoint/2010/main" val="3665439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FFE0-DDF9-47DE-B275-8BCB165B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8C08-35F4-4C20-B872-470A8EF91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885"/>
            <a:ext cx="10515600" cy="2986780"/>
          </a:xfrm>
        </p:spPr>
        <p:txBody>
          <a:bodyPr>
            <a:normAutofit/>
          </a:bodyPr>
          <a:lstStyle/>
          <a:p>
            <a:r>
              <a:rPr lang="en-US" sz="2400" dirty="0" err="1"/>
              <a:t>whenActive</a:t>
            </a:r>
            <a:r>
              <a:rPr lang="en-US" sz="2400" dirty="0"/>
              <a:t>/</a:t>
            </a:r>
            <a:r>
              <a:rPr lang="en-US" sz="2400" dirty="0" err="1"/>
              <a:t>whenPressed</a:t>
            </a:r>
            <a:r>
              <a:rPr lang="en-US" sz="2400" dirty="0"/>
              <a:t> – when button changes from inactive to active</a:t>
            </a:r>
          </a:p>
          <a:p>
            <a:r>
              <a:rPr lang="en-US" sz="2400" dirty="0" err="1"/>
              <a:t>whileHeld</a:t>
            </a:r>
            <a:r>
              <a:rPr lang="en-US" sz="2400" dirty="0"/>
              <a:t> – command will be rescheduled once completed</a:t>
            </a:r>
          </a:p>
          <a:p>
            <a:r>
              <a:rPr lang="en-US" sz="2400" dirty="0" err="1"/>
              <a:t>whenHeld</a:t>
            </a:r>
            <a:r>
              <a:rPr lang="en-US" sz="2400" dirty="0"/>
              <a:t> – command will not be rescheduled once completed</a:t>
            </a:r>
          </a:p>
          <a:p>
            <a:r>
              <a:rPr lang="en-US" sz="2400" dirty="0" err="1"/>
              <a:t>whenReleased</a:t>
            </a:r>
            <a:r>
              <a:rPr lang="en-US" sz="2400" dirty="0"/>
              <a:t> – when button changes from active to inactive</a:t>
            </a:r>
          </a:p>
          <a:p>
            <a:r>
              <a:rPr lang="en-US" sz="2400" dirty="0" err="1"/>
              <a:t>toggleWhenPressed</a:t>
            </a:r>
            <a:r>
              <a:rPr lang="en-US" sz="2400" dirty="0"/>
              <a:t> – performs  a toggle option</a:t>
            </a:r>
          </a:p>
          <a:p>
            <a:r>
              <a:rPr lang="en-US" sz="2400" dirty="0" err="1"/>
              <a:t>cancelWhenPressed</a:t>
            </a:r>
            <a:r>
              <a:rPr lang="en-US" sz="2400" dirty="0"/>
              <a:t> – cancels an already running command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6608D-19A6-4726-8AAC-9F23612F1237}"/>
              </a:ext>
            </a:extLst>
          </p:cNvPr>
          <p:cNvSpPr txBox="1"/>
          <p:nvPr/>
        </p:nvSpPr>
        <p:spPr>
          <a:xfrm>
            <a:off x="977660" y="4128557"/>
            <a:ext cx="102079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configureButtonBindings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// primary controls</a:t>
            </a:r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Buttons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primaryAButton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whenPressed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ShiftLowGearCommand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driveTrainSubsystem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Buttons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primaryYButton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whenPressed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ShiftHighGearCommand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driveTrainSubsystem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endParaRPr lang="en-US" sz="1400" dirty="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E5C07B"/>
                </a:solidFill>
                <a:latin typeface="Consolas" panose="020B0609020204030204" pitchFamily="49" charset="0"/>
              </a:rPr>
              <a:t>     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Buttons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secondaryBButton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whenHeld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ReverseIndexToBlasterCommand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intakeSubsystem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sz="1400" dirty="0">
                <a:solidFill>
                  <a:srgbClr val="ABB2BF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844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5E86B-D8DB-4724-A160-D7CDF5F37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Subsystem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27E61-8FE9-4981-B794-15E8B1F58CD8}"/>
              </a:ext>
            </a:extLst>
          </p:cNvPr>
          <p:cNvSpPr txBox="1"/>
          <p:nvPr/>
        </p:nvSpPr>
        <p:spPr>
          <a:xfrm>
            <a:off x="774939" y="1229896"/>
            <a:ext cx="7723517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SubsystemBase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  /**</a:t>
            </a:r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   * Creates a new </a:t>
            </a:r>
            <a:r>
              <a:rPr lang="en-US" sz="14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4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   */</a:t>
            </a:r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WPI_VictorSPX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gondolaMotor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WPI_VictorSPX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gondolaMotor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gondolaMotor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gondolaMotor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operateGondola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gondolaMotor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ControlMode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PercentOutput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periodic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// This method will be called once per scheduler run</a:t>
            </a:r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FEC7AB5A-5DBC-4A32-ABA1-B5E491CA3EED}"/>
              </a:ext>
            </a:extLst>
          </p:cNvPr>
          <p:cNvSpPr/>
          <p:nvPr/>
        </p:nvSpPr>
        <p:spPr>
          <a:xfrm>
            <a:off x="7703388" y="1329889"/>
            <a:ext cx="2855344" cy="1200525"/>
          </a:xfrm>
          <a:prstGeom prst="borderCallout1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Constructor – called once when the Subsystem is created in </a:t>
            </a:r>
            <a:r>
              <a:rPr lang="en-US" dirty="0" err="1"/>
              <a:t>RobotContainer</a:t>
            </a:r>
            <a:endParaRPr lang="en-US" dirty="0"/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08864390-94CF-4538-866E-D29EC85D7A9A}"/>
              </a:ext>
            </a:extLst>
          </p:cNvPr>
          <p:cNvSpPr/>
          <p:nvPr/>
        </p:nvSpPr>
        <p:spPr>
          <a:xfrm>
            <a:off x="7703388" y="4976263"/>
            <a:ext cx="2855344" cy="1200525"/>
          </a:xfrm>
          <a:prstGeom prst="borderCallout1">
            <a:avLst>
              <a:gd name="adj1" fmla="val 18750"/>
              <a:gd name="adj2" fmla="val -8333"/>
              <a:gd name="adj3" fmla="val 8070"/>
              <a:gd name="adj4" fmla="val -109632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Called once per Scheduler run</a:t>
            </a: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F69FF12D-04E1-45AD-9BCB-D58D78E60405}"/>
              </a:ext>
            </a:extLst>
          </p:cNvPr>
          <p:cNvSpPr/>
          <p:nvPr/>
        </p:nvSpPr>
        <p:spPr>
          <a:xfrm>
            <a:off x="7703388" y="2745238"/>
            <a:ext cx="2855344" cy="1200525"/>
          </a:xfrm>
          <a:prstGeom prst="borderCallout1">
            <a:avLst>
              <a:gd name="adj1" fmla="val 18750"/>
              <a:gd name="adj2" fmla="val -8333"/>
              <a:gd name="adj3" fmla="val 14297"/>
              <a:gd name="adj4" fmla="val -19362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super() is important – this registers this subsystem with the Scheduler</a:t>
            </a:r>
          </a:p>
        </p:txBody>
      </p:sp>
    </p:spTree>
    <p:extLst>
      <p:ext uri="{BB962C8B-B14F-4D97-AF65-F5344CB8AC3E}">
        <p14:creationId xmlns:p14="http://schemas.microsoft.com/office/powerpoint/2010/main" val="361878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BCC6C-FEE9-4F36-84E4-079A6FAE7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Command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7521F2-2709-4830-A94F-BA52440AA197}"/>
              </a:ext>
            </a:extLst>
          </p:cNvPr>
          <p:cNvSpPr txBox="1"/>
          <p:nvPr/>
        </p:nvSpPr>
        <p:spPr>
          <a:xfrm>
            <a:off x="714556" y="1070279"/>
            <a:ext cx="758405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GondolaCommand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CommandBase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DoubleSupplier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gondolaSpeed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GondolaCommand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DoubleSupplier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gondolaSpeed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addRequirements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initialize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execute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gondolaSubsystem</a:t>
            </a:r>
            <a:r>
              <a:rPr lang="en-US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gondola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gondolaSpeed</a:t>
            </a:r>
            <a:r>
              <a:rPr lang="en-US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getAsDouble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end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interrupted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isFinished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D1897B8F-3FBE-4FB2-B0D9-3B88533CF54F}"/>
              </a:ext>
            </a:extLst>
          </p:cNvPr>
          <p:cNvSpPr/>
          <p:nvPr/>
        </p:nvSpPr>
        <p:spPr>
          <a:xfrm>
            <a:off x="8709804" y="995516"/>
            <a:ext cx="2855344" cy="1200525"/>
          </a:xfrm>
          <a:prstGeom prst="borderCallout1">
            <a:avLst>
              <a:gd name="adj1" fmla="val 18750"/>
              <a:gd name="adj2" fmla="val -8333"/>
              <a:gd name="adj3" fmla="val 71303"/>
              <a:gd name="adj4" fmla="val -4357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Constructor – called once when the Command is created</a:t>
            </a:r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EA2AB639-575F-4C77-990E-E810E84057A9}"/>
              </a:ext>
            </a:extLst>
          </p:cNvPr>
          <p:cNvSpPr/>
          <p:nvPr/>
        </p:nvSpPr>
        <p:spPr>
          <a:xfrm>
            <a:off x="8709804" y="2295229"/>
            <a:ext cx="2855344" cy="1200525"/>
          </a:xfrm>
          <a:prstGeom prst="borderCallout1">
            <a:avLst>
              <a:gd name="adj1" fmla="val 18750"/>
              <a:gd name="adj2" fmla="val -8333"/>
              <a:gd name="adj3" fmla="val 95255"/>
              <a:gd name="adj4" fmla="val -17831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Called every time a command is scheduled to run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D98A915E-B8C6-47BA-87FF-8491C35EEFED}"/>
              </a:ext>
            </a:extLst>
          </p:cNvPr>
          <p:cNvSpPr/>
          <p:nvPr/>
        </p:nvSpPr>
        <p:spPr>
          <a:xfrm>
            <a:off x="8709804" y="3709961"/>
            <a:ext cx="2855344" cy="1200525"/>
          </a:xfrm>
          <a:prstGeom prst="borderCallout1">
            <a:avLst>
              <a:gd name="adj1" fmla="val 18750"/>
              <a:gd name="adj2" fmla="val -8333"/>
              <a:gd name="adj3" fmla="val 49747"/>
              <a:gd name="adj4" fmla="val -107618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Called every time scheduler runs this command</a:t>
            </a: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E235ED62-2AC9-4B1C-97C3-489188DAB43D}"/>
              </a:ext>
            </a:extLst>
          </p:cNvPr>
          <p:cNvSpPr/>
          <p:nvPr/>
        </p:nvSpPr>
        <p:spPr>
          <a:xfrm>
            <a:off x="8709804" y="5038429"/>
            <a:ext cx="2855344" cy="1200525"/>
          </a:xfrm>
          <a:prstGeom prst="borderCallout1">
            <a:avLst>
              <a:gd name="adj1" fmla="val 18750"/>
              <a:gd name="adj2" fmla="val -8333"/>
              <a:gd name="adj3" fmla="val 7592"/>
              <a:gd name="adj4" fmla="val -14971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Called every time scheduler stops this command</a:t>
            </a:r>
          </a:p>
        </p:txBody>
      </p:sp>
    </p:spTree>
    <p:extLst>
      <p:ext uri="{BB962C8B-B14F-4D97-AF65-F5344CB8AC3E}">
        <p14:creationId xmlns:p14="http://schemas.microsoft.com/office/powerpoint/2010/main" val="1574202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9A27B0-61D0-49DF-995D-D2746438C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/>
              <a:t>Command Groups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8BA21-DF3E-4A65-A901-3DE5C9A10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1500"/>
              <a:t>Grouping of Commands</a:t>
            </a:r>
          </a:p>
          <a:p>
            <a:r>
              <a:rPr lang="en-US" sz="1500"/>
              <a:t>Command Groups themselves are Command Objects and hence,</a:t>
            </a:r>
          </a:p>
          <a:p>
            <a:pPr lvl="1"/>
            <a:r>
              <a:rPr lang="en-US" sz="1500"/>
              <a:t>Command Groups can be passed where Command objects are accepted</a:t>
            </a:r>
          </a:p>
          <a:p>
            <a:pPr lvl="1"/>
            <a:r>
              <a:rPr lang="en-US" sz="1500"/>
              <a:t>A command group can contain other command groups</a:t>
            </a:r>
          </a:p>
          <a:p>
            <a:pPr lvl="1"/>
            <a:endParaRPr lang="en-US" sz="1500"/>
          </a:p>
        </p:txBody>
      </p:sp>
      <p:pic>
        <p:nvPicPr>
          <p:cNvPr id="18" name="Picture 17" descr="Diagram&#10;&#10;Description automatically generated">
            <a:extLst>
              <a:ext uri="{FF2B5EF4-FFF2-40B4-BE49-F238E27FC236}">
                <a16:creationId xmlns:a16="http://schemas.microsoft.com/office/drawing/2014/main" id="{AC947F7D-97B9-49B2-B98F-06AB5FADF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059" y="2290936"/>
            <a:ext cx="8947690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9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22D0E2-6370-48D7-A7CC-FB14016FFDC1}"/>
              </a:ext>
            </a:extLst>
          </p:cNvPr>
          <p:cNvSpPr txBox="1"/>
          <p:nvPr/>
        </p:nvSpPr>
        <p:spPr>
          <a:xfrm>
            <a:off x="631165" y="656814"/>
            <a:ext cx="3193211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SequentialCommandGroup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C05D5-25B8-43B7-97A9-E89C21575E7D}"/>
              </a:ext>
            </a:extLst>
          </p:cNvPr>
          <p:cNvSpPr txBox="1"/>
          <p:nvPr/>
        </p:nvSpPr>
        <p:spPr>
          <a:xfrm>
            <a:off x="631164" y="2021461"/>
            <a:ext cx="3193211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ParallelCommandGroup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1A2E9-B94C-4DC6-8B0A-C13F78C0BBA3}"/>
              </a:ext>
            </a:extLst>
          </p:cNvPr>
          <p:cNvSpPr txBox="1"/>
          <p:nvPr/>
        </p:nvSpPr>
        <p:spPr>
          <a:xfrm>
            <a:off x="631164" y="3606283"/>
            <a:ext cx="3193211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ParalleRaceGroup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8BC93-595A-46D7-9E4A-73615E14090C}"/>
              </a:ext>
            </a:extLst>
          </p:cNvPr>
          <p:cNvSpPr txBox="1"/>
          <p:nvPr/>
        </p:nvSpPr>
        <p:spPr>
          <a:xfrm>
            <a:off x="631164" y="5470357"/>
            <a:ext cx="3193211" cy="408623"/>
          </a:xfrm>
          <a:prstGeom prst="round2Diag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ParalleDeadlineGroup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608C6-F7CF-441D-9D8B-8721028E5ACA}"/>
              </a:ext>
            </a:extLst>
          </p:cNvPr>
          <p:cNvSpPr txBox="1"/>
          <p:nvPr/>
        </p:nvSpPr>
        <p:spPr>
          <a:xfrm>
            <a:off x="4518804" y="656813"/>
            <a:ext cx="1841740" cy="408623"/>
          </a:xfrm>
          <a:prstGeom prst="round2Diag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13813-3690-4D60-A1F3-340DDEEA62FD}"/>
              </a:ext>
            </a:extLst>
          </p:cNvPr>
          <p:cNvSpPr txBox="1"/>
          <p:nvPr/>
        </p:nvSpPr>
        <p:spPr>
          <a:xfrm>
            <a:off x="6781800" y="656812"/>
            <a:ext cx="1841740" cy="408623"/>
          </a:xfrm>
          <a:prstGeom prst="round2Diag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1E32F-CFEB-4E92-96D7-9666D2B1B1F6}"/>
              </a:ext>
            </a:extLst>
          </p:cNvPr>
          <p:cNvSpPr txBox="1"/>
          <p:nvPr/>
        </p:nvSpPr>
        <p:spPr>
          <a:xfrm>
            <a:off x="9044796" y="646749"/>
            <a:ext cx="1841740" cy="408623"/>
          </a:xfrm>
          <a:prstGeom prst="round2Diag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5D2DA6-8BD2-44B8-9095-7757277DB4DB}"/>
              </a:ext>
            </a:extLst>
          </p:cNvPr>
          <p:cNvCxnSpPr>
            <a:stCxn id="6" idx="0"/>
            <a:endCxn id="7" idx="2"/>
          </p:cNvCxnSpPr>
          <p:nvPr/>
        </p:nvCxnSpPr>
        <p:spPr>
          <a:xfrm flipV="1">
            <a:off x="6360544" y="861124"/>
            <a:ext cx="4212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5AFCAE-2CAE-4A9C-A010-F3DE1B46D9CA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8623540" y="851061"/>
            <a:ext cx="421256" cy="10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0A1367A-C738-4ACF-83B1-AC906D8881FE}"/>
              </a:ext>
            </a:extLst>
          </p:cNvPr>
          <p:cNvSpPr txBox="1"/>
          <p:nvPr/>
        </p:nvSpPr>
        <p:spPr>
          <a:xfrm>
            <a:off x="4518804" y="1612838"/>
            <a:ext cx="1841740" cy="408623"/>
          </a:xfrm>
          <a:prstGeom prst="round2Diag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04CFDA-D1AE-4D0A-A1F0-9DE1AAE554B5}"/>
              </a:ext>
            </a:extLst>
          </p:cNvPr>
          <p:cNvSpPr txBox="1"/>
          <p:nvPr/>
        </p:nvSpPr>
        <p:spPr>
          <a:xfrm>
            <a:off x="4518804" y="2088795"/>
            <a:ext cx="1841740" cy="408623"/>
          </a:xfrm>
          <a:prstGeom prst="round2Diag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925DEA-22FA-434C-8817-4ACD3FC19BBB}"/>
              </a:ext>
            </a:extLst>
          </p:cNvPr>
          <p:cNvSpPr txBox="1"/>
          <p:nvPr/>
        </p:nvSpPr>
        <p:spPr>
          <a:xfrm>
            <a:off x="4518804" y="2586316"/>
            <a:ext cx="1841740" cy="408623"/>
          </a:xfrm>
          <a:prstGeom prst="round2Diag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0D8D1F-604D-42AF-8576-B1FAA688686F}"/>
              </a:ext>
            </a:extLst>
          </p:cNvPr>
          <p:cNvCxnSpPr>
            <a:cxnSpLocks/>
            <a:stCxn id="2" idx="0"/>
            <a:endCxn id="6" idx="2"/>
          </p:cNvCxnSpPr>
          <p:nvPr/>
        </p:nvCxnSpPr>
        <p:spPr>
          <a:xfrm flipV="1">
            <a:off x="3824376" y="861125"/>
            <a:ext cx="69442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2943A6-E0E2-4B28-AF3C-8AA1A37C857D}"/>
              </a:ext>
            </a:extLst>
          </p:cNvPr>
          <p:cNvCxnSpPr>
            <a:cxnSpLocks/>
            <a:stCxn id="3" idx="0"/>
            <a:endCxn id="11" idx="2"/>
          </p:cNvCxnSpPr>
          <p:nvPr/>
        </p:nvCxnSpPr>
        <p:spPr>
          <a:xfrm flipV="1">
            <a:off x="3824375" y="1817150"/>
            <a:ext cx="694429" cy="408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3A72F8-56A2-493C-BDA5-3D3C3BC8E25B}"/>
              </a:ext>
            </a:extLst>
          </p:cNvPr>
          <p:cNvCxnSpPr>
            <a:cxnSpLocks/>
            <a:stCxn id="3" idx="0"/>
            <a:endCxn id="14" idx="2"/>
          </p:cNvCxnSpPr>
          <p:nvPr/>
        </p:nvCxnSpPr>
        <p:spPr>
          <a:xfrm>
            <a:off x="3824375" y="2225773"/>
            <a:ext cx="694429" cy="67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580CAC-5A77-4409-BC9F-F90BFA7A9C1A}"/>
              </a:ext>
            </a:extLst>
          </p:cNvPr>
          <p:cNvCxnSpPr>
            <a:cxnSpLocks/>
            <a:stCxn id="3" idx="0"/>
            <a:endCxn id="16" idx="2"/>
          </p:cNvCxnSpPr>
          <p:nvPr/>
        </p:nvCxnSpPr>
        <p:spPr>
          <a:xfrm>
            <a:off x="3824375" y="2225773"/>
            <a:ext cx="694429" cy="564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ight Brace 28">
            <a:extLst>
              <a:ext uri="{FF2B5EF4-FFF2-40B4-BE49-F238E27FC236}">
                <a16:creationId xmlns:a16="http://schemas.microsoft.com/office/drawing/2014/main" id="{6AD893EA-0558-4B3C-AC09-4C5C07F989B2}"/>
              </a:ext>
            </a:extLst>
          </p:cNvPr>
          <p:cNvSpPr/>
          <p:nvPr/>
        </p:nvSpPr>
        <p:spPr>
          <a:xfrm>
            <a:off x="6781800" y="1742536"/>
            <a:ext cx="188343" cy="114443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BFA697-550E-4B58-93AF-EFE83F703CC1}"/>
              </a:ext>
            </a:extLst>
          </p:cNvPr>
          <p:cNvSpPr txBox="1"/>
          <p:nvPr/>
        </p:nvSpPr>
        <p:spPr>
          <a:xfrm>
            <a:off x="7343235" y="2171225"/>
            <a:ext cx="26224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Done when </a:t>
            </a:r>
            <a:r>
              <a:rPr lang="en-US" b="1" dirty="0">
                <a:solidFill>
                  <a:srgbClr val="FF0000"/>
                </a:solidFill>
              </a:rPr>
              <a:t>all</a:t>
            </a:r>
            <a:r>
              <a:rPr lang="en-US" dirty="0"/>
              <a:t> the commands are done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95DC28-E8BF-41B5-B63D-F2782BCBADA7}"/>
              </a:ext>
            </a:extLst>
          </p:cNvPr>
          <p:cNvSpPr txBox="1"/>
          <p:nvPr/>
        </p:nvSpPr>
        <p:spPr>
          <a:xfrm>
            <a:off x="4518804" y="3222251"/>
            <a:ext cx="1841740" cy="408623"/>
          </a:xfrm>
          <a:prstGeom prst="round2Diag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EE4214-9C3B-426F-8A66-3CAC3EC15845}"/>
              </a:ext>
            </a:extLst>
          </p:cNvPr>
          <p:cNvSpPr txBox="1"/>
          <p:nvPr/>
        </p:nvSpPr>
        <p:spPr>
          <a:xfrm>
            <a:off x="4518804" y="3691763"/>
            <a:ext cx="1841740" cy="408623"/>
          </a:xfrm>
          <a:prstGeom prst="round2Diag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CA10FB-BCA8-49D9-888B-C716597DA974}"/>
              </a:ext>
            </a:extLst>
          </p:cNvPr>
          <p:cNvSpPr txBox="1"/>
          <p:nvPr/>
        </p:nvSpPr>
        <p:spPr>
          <a:xfrm>
            <a:off x="4518804" y="4161275"/>
            <a:ext cx="1841740" cy="408623"/>
          </a:xfrm>
          <a:prstGeom prst="round2Diag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3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E147BA-C12A-4175-A2CD-30A21E065DF5}"/>
              </a:ext>
            </a:extLst>
          </p:cNvPr>
          <p:cNvCxnSpPr>
            <a:cxnSpLocks/>
            <a:stCxn id="4" idx="0"/>
            <a:endCxn id="31" idx="2"/>
          </p:cNvCxnSpPr>
          <p:nvPr/>
        </p:nvCxnSpPr>
        <p:spPr>
          <a:xfrm flipV="1">
            <a:off x="3824375" y="3426563"/>
            <a:ext cx="694429" cy="384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2CF49F-5A95-468B-9AEF-6CBD88864AD8}"/>
              </a:ext>
            </a:extLst>
          </p:cNvPr>
          <p:cNvCxnSpPr>
            <a:cxnSpLocks/>
            <a:stCxn id="4" idx="0"/>
            <a:endCxn id="32" idx="2"/>
          </p:cNvCxnSpPr>
          <p:nvPr/>
        </p:nvCxnSpPr>
        <p:spPr>
          <a:xfrm>
            <a:off x="3824375" y="3810595"/>
            <a:ext cx="694429" cy="85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2044C26-1CFC-412E-98B7-FD6F35EC3C0F}"/>
              </a:ext>
            </a:extLst>
          </p:cNvPr>
          <p:cNvCxnSpPr>
            <a:cxnSpLocks/>
            <a:stCxn id="4" idx="0"/>
            <a:endCxn id="33" idx="2"/>
          </p:cNvCxnSpPr>
          <p:nvPr/>
        </p:nvCxnSpPr>
        <p:spPr>
          <a:xfrm>
            <a:off x="3824375" y="3810595"/>
            <a:ext cx="694429" cy="554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ight Brace 36">
            <a:extLst>
              <a:ext uri="{FF2B5EF4-FFF2-40B4-BE49-F238E27FC236}">
                <a16:creationId xmlns:a16="http://schemas.microsoft.com/office/drawing/2014/main" id="{CE20ED2F-58AF-43DA-880B-E5DB82C6F22B}"/>
              </a:ext>
            </a:extLst>
          </p:cNvPr>
          <p:cNvSpPr/>
          <p:nvPr/>
        </p:nvSpPr>
        <p:spPr>
          <a:xfrm>
            <a:off x="6781800" y="3351949"/>
            <a:ext cx="188343" cy="109353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9E563C-19E8-4AD9-AB7E-87DBECC67D0E}"/>
              </a:ext>
            </a:extLst>
          </p:cNvPr>
          <p:cNvSpPr txBox="1"/>
          <p:nvPr/>
        </p:nvSpPr>
        <p:spPr>
          <a:xfrm>
            <a:off x="7343235" y="3780638"/>
            <a:ext cx="26224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Done when </a:t>
            </a:r>
            <a:r>
              <a:rPr lang="en-US" b="1" dirty="0">
                <a:solidFill>
                  <a:srgbClr val="FF0000"/>
                </a:solidFill>
              </a:rPr>
              <a:t>any</a:t>
            </a:r>
            <a:r>
              <a:rPr lang="en-US" dirty="0"/>
              <a:t> command in the group is done.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DFE5E3-A471-48FF-A844-A751756715F3}"/>
              </a:ext>
            </a:extLst>
          </p:cNvPr>
          <p:cNvSpPr txBox="1"/>
          <p:nvPr/>
        </p:nvSpPr>
        <p:spPr>
          <a:xfrm>
            <a:off x="4525993" y="5086935"/>
            <a:ext cx="1841740" cy="408623"/>
          </a:xfrm>
          <a:prstGeom prst="round2Diag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4CACCA-306C-4BFF-806F-F52E8B67CB5F}"/>
              </a:ext>
            </a:extLst>
          </p:cNvPr>
          <p:cNvSpPr txBox="1"/>
          <p:nvPr/>
        </p:nvSpPr>
        <p:spPr>
          <a:xfrm>
            <a:off x="4525993" y="5556447"/>
            <a:ext cx="1841740" cy="408623"/>
          </a:xfrm>
          <a:prstGeom prst="round2Diag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060092-4C31-4722-8D9B-9C1E029E9AF8}"/>
              </a:ext>
            </a:extLst>
          </p:cNvPr>
          <p:cNvSpPr txBox="1"/>
          <p:nvPr/>
        </p:nvSpPr>
        <p:spPr>
          <a:xfrm>
            <a:off x="4525993" y="6025959"/>
            <a:ext cx="1841740" cy="408623"/>
          </a:xfrm>
          <a:prstGeom prst="round2Diag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Command 3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3ED1F9E-F6CB-4C8D-BA19-A84921CCB1D0}"/>
              </a:ext>
            </a:extLst>
          </p:cNvPr>
          <p:cNvCxnSpPr>
            <a:cxnSpLocks/>
            <a:stCxn id="5" idx="0"/>
            <a:endCxn id="45" idx="2"/>
          </p:cNvCxnSpPr>
          <p:nvPr/>
        </p:nvCxnSpPr>
        <p:spPr>
          <a:xfrm flipV="1">
            <a:off x="3824375" y="5291247"/>
            <a:ext cx="701618" cy="383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A1E2138-575F-451E-A73E-32C42F531E17}"/>
              </a:ext>
            </a:extLst>
          </p:cNvPr>
          <p:cNvCxnSpPr>
            <a:cxnSpLocks/>
            <a:stCxn id="5" idx="0"/>
            <a:endCxn id="46" idx="2"/>
          </p:cNvCxnSpPr>
          <p:nvPr/>
        </p:nvCxnSpPr>
        <p:spPr>
          <a:xfrm>
            <a:off x="3824375" y="5674669"/>
            <a:ext cx="701618" cy="86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E0C614E-0288-418C-926C-2BAC8E746F55}"/>
              </a:ext>
            </a:extLst>
          </p:cNvPr>
          <p:cNvCxnSpPr>
            <a:cxnSpLocks/>
            <a:stCxn id="5" idx="0"/>
            <a:endCxn id="47" idx="2"/>
          </p:cNvCxnSpPr>
          <p:nvPr/>
        </p:nvCxnSpPr>
        <p:spPr>
          <a:xfrm>
            <a:off x="3824375" y="5674669"/>
            <a:ext cx="701618" cy="555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ight Brace 50">
            <a:extLst>
              <a:ext uri="{FF2B5EF4-FFF2-40B4-BE49-F238E27FC236}">
                <a16:creationId xmlns:a16="http://schemas.microsoft.com/office/drawing/2014/main" id="{AB3A98FF-F0C4-472B-A3A6-0A9EE7DF46B4}"/>
              </a:ext>
            </a:extLst>
          </p:cNvPr>
          <p:cNvSpPr/>
          <p:nvPr/>
        </p:nvSpPr>
        <p:spPr>
          <a:xfrm>
            <a:off x="6788989" y="5216633"/>
            <a:ext cx="188343" cy="109353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44CF57-EB3A-45D2-9DED-DD46820CF63F}"/>
              </a:ext>
            </a:extLst>
          </p:cNvPr>
          <p:cNvSpPr txBox="1"/>
          <p:nvPr/>
        </p:nvSpPr>
        <p:spPr>
          <a:xfrm>
            <a:off x="7319513" y="5417315"/>
            <a:ext cx="26224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Done when </a:t>
            </a:r>
            <a:r>
              <a:rPr lang="en-US" b="1" dirty="0">
                <a:solidFill>
                  <a:srgbClr val="FF0000"/>
                </a:solidFill>
              </a:rPr>
              <a:t>selected</a:t>
            </a:r>
            <a:r>
              <a:rPr lang="en-US" dirty="0"/>
              <a:t> command in the group is done.</a:t>
            </a:r>
          </a:p>
        </p:txBody>
      </p:sp>
    </p:spTree>
    <p:extLst>
      <p:ext uri="{BB962C8B-B14F-4D97-AF65-F5344CB8AC3E}">
        <p14:creationId xmlns:p14="http://schemas.microsoft.com/office/powerpoint/2010/main" val="835680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01F39-8E60-4FFD-A462-EB7ADF6C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Limitations and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5B727-920F-4591-9C4A-401661610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commands can run concurrently, as long as they do not require the same resources on the robot – that is, it is not dependent on the same subsystem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707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11226C32-C433-4666-94E8-B92D782F6D79}" vid="{CDA391EF-3327-4046-896C-5641A7E85D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Adambots</Template>
  <TotalTime>733</TotalTime>
  <Words>721</Words>
  <Application>Microsoft Office PowerPoint</Application>
  <PresentationFormat>Widescreen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Command Based Programming</vt:lpstr>
      <vt:lpstr>Commands and Subsystems</vt:lpstr>
      <vt:lpstr>Command Scheduler</vt:lpstr>
      <vt:lpstr>Initial Setup</vt:lpstr>
      <vt:lpstr>Triggers</vt:lpstr>
      <vt:lpstr>Subsystem Class</vt:lpstr>
      <vt:lpstr>Command Class</vt:lpstr>
      <vt:lpstr>Command Groups</vt:lpstr>
      <vt:lpstr>PowerPoint Presentation</vt:lpstr>
      <vt:lpstr>Limitations and Dependencies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Command Based Programming</dc:title>
  <dc:creator>Bhuvaneswaran, Rajeev</dc:creator>
  <cp:lastModifiedBy>Bhuvaneswaran, Rajeev</cp:lastModifiedBy>
  <cp:revision>2</cp:revision>
  <dcterms:created xsi:type="dcterms:W3CDTF">2021-11-17T13:49:28Z</dcterms:created>
  <dcterms:modified xsi:type="dcterms:W3CDTF">2021-11-18T02:02:44Z</dcterms:modified>
</cp:coreProperties>
</file>