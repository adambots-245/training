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69" r:id="rId16"/>
    <p:sldId id="270" r:id="rId17"/>
    <p:sldId id="271" r:id="rId18"/>
    <p:sldId id="272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" y="1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74AE-FE4C-4270-B1D5-2BD00F97B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74489"/>
            <a:ext cx="9144000" cy="1135473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2033F-2F46-4F90-9D74-1989ACD88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3074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C691A-9E2B-4DF0-86AE-C7BD6783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8C72C-4CFD-4DB4-A10C-57DEC39FB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CF44-3C5C-40B6-A829-1E7DEBE7A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AdamBots Atom Logo">
            <a:extLst>
              <a:ext uri="{FF2B5EF4-FFF2-40B4-BE49-F238E27FC236}">
                <a16:creationId xmlns:a16="http://schemas.microsoft.com/office/drawing/2014/main" id="{0405DD3E-87C1-4C54-8B4D-E804AEBDD5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2238375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damBots Logo Text">
            <a:extLst>
              <a:ext uri="{FF2B5EF4-FFF2-40B4-BE49-F238E27FC236}">
                <a16:creationId xmlns:a16="http://schemas.microsoft.com/office/drawing/2014/main" id="{63615114-9280-4ADF-9DAC-A899BAE08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39713"/>
            <a:ext cx="5048250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4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F0BD6-0E7F-4B7F-B930-A76A85F3B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45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C6AB9-8BD0-4C75-A694-D5D674017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1884"/>
            <a:ext cx="10515600" cy="51150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F73C-716A-4119-9ED9-E0ADCCD93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FE7C0-FD9C-4B16-ACDF-FD1B2187E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08FF3-9177-4BA7-B86B-F2323DC00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336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90BF0-2582-4289-8BBA-10771BF22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39820-4959-4D16-9B61-07E383B40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7237A-ADAE-4457-81B0-FF7B1C222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45B7E-AF62-4D37-AE19-0D07FDF5B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5A98E-4F94-4943-A544-21B0963C1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2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CAED1-31FE-44C3-AF24-37C6F9E4E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08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456EC-043F-4EA0-B8C5-61B7DB3D8C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45407"/>
            <a:ext cx="5181600" cy="5031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90E4F-1BFE-4E40-8042-AA254E41B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45407"/>
            <a:ext cx="5181600" cy="5031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42001-55FE-4E1D-86B7-A3F765229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8456B-29CD-4CB1-85F8-E41AB4F4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1DC87-7FA1-40F9-A6D6-59A14949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4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B9C0F-5CEC-4035-A834-309D69105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6008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DA550-7273-4A8C-8E56-961D06D32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327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E1053-3956-4A84-9863-CA68E6AF0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42652"/>
            <a:ext cx="5157787" cy="4147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2071B-CECC-4C8A-A308-6C1948F2E6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327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7F6176-174A-4502-8355-4E5FF4F31E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42652"/>
            <a:ext cx="5183188" cy="4147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5C9D4A-561D-4CFA-8C21-11B63A43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599483-FF41-45B2-A9E1-F760B0638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41705F-4426-4617-A07F-D13ADA8E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4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7345C-7065-4972-8C54-CF17D31A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03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2418C-EEE7-4C9A-B3D7-34B6E01F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77580-5548-4ACF-BC62-03EB42793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BD288-0144-4424-B02A-63B7ADD06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3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3E2E87-883B-4160-8166-004A62B5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96689D-15A8-48CB-BA74-56E2E949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5FC20-80B2-4A1C-9824-C75BC1F29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93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42192-7C66-46A4-9D52-DCDFEA9AB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4A2C2-2F39-42A9-9FA2-CF5FDD6D9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A160E-C9F7-4CF1-AAD0-FD1CC9523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61E88-46ED-4CD4-82B4-514E0B338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C5E8B-5D2A-4422-B532-1C9B3A7CE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F68E0-7093-44C0-8239-36420558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78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E8A7-1AED-445F-A86E-3CDC29882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C8FE80-F5E7-433E-AACA-DF85663BA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0E843-AA58-4A49-ACB1-A088BD637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0499B-EBEA-4505-869C-E34A3C88C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2EBFA-D75B-4933-B31F-612B335B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65539-0467-443F-8673-000702F0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73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0C73-493E-4AD8-AE8E-42720FE98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646E9-E3FF-4798-9BA8-28AE1D83C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8A08D-5C29-4A4C-8D3C-AB3794A40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CFDA-4D26-47D9-8E3A-8C37F378D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A210C-8E65-4B3B-A249-DF7FD6F39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0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BADFC4-E650-4A5D-9CB6-0B3116BF73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EB287-2CDC-48D4-958B-E1581C659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BFC8F-249A-414C-A1C2-CACD2CE4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758AF-3E05-4997-A3EF-F6C96E4A16E9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0F7EB-24EE-4B4E-97D1-1051FDA15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ACBD0-EF8B-42A4-BC64-88EA2CCF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30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381C95-467F-4AFB-B478-D6DD8862D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1E44C-436E-4439-9F03-EBD0E7583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1172A-E479-48A1-98E3-167647C62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758AF-3E05-4997-A3EF-F6C96E4A16E9}" type="datetimeFigureOut">
              <a:rPr lang="en-US" smtClean="0"/>
              <a:t>11/10/2021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A5830-A79E-40D4-AC5A-0054A71DB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1D019-57F3-48F2-9175-4EDFBE638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1AD0C-577D-42A5-8E82-F0E1A2834D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5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gmiYWTmFRVE?feature=oembe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8F346-5367-46B1-A517-984F47D313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FRC Robot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FC8FE-E1F7-48BE-A3E7-7B99CE4458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Subsystems</a:t>
            </a:r>
          </a:p>
        </p:txBody>
      </p:sp>
    </p:spTree>
    <p:extLst>
      <p:ext uri="{BB962C8B-B14F-4D97-AF65-F5344CB8AC3E}">
        <p14:creationId xmlns:p14="http://schemas.microsoft.com/office/powerpoint/2010/main" val="3050714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2020 FIRST Robotics Competition INFINITE RECHARGE Game Animation">
            <a:hlinkClick r:id="" action="ppaction://media"/>
            <a:extLst>
              <a:ext uri="{FF2B5EF4-FFF2-40B4-BE49-F238E27FC236}">
                <a16:creationId xmlns:a16="http://schemas.microsoft.com/office/drawing/2014/main" id="{36FBE80B-4849-417D-AC6B-BB5557FBE00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40242" cy="685923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859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19220C-F4F7-4D16-90B5-B972E9DBF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Play field for 2020/2021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D585E5-9E56-4E48-9292-0A79A2D0BB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77" r="7585"/>
          <a:stretch/>
        </p:blipFill>
        <p:spPr>
          <a:xfrm>
            <a:off x="644115" y="1194734"/>
            <a:ext cx="10069893" cy="56632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15EDFB-4F48-4DB1-B083-A9381C2D435B}"/>
              </a:ext>
            </a:extLst>
          </p:cNvPr>
          <p:cNvSpPr txBox="1"/>
          <p:nvPr/>
        </p:nvSpPr>
        <p:spPr>
          <a:xfrm>
            <a:off x="4761781" y="9104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https://www.youtube.com/watch?v=gmiYWTmFRVE</a:t>
            </a:r>
          </a:p>
        </p:txBody>
      </p:sp>
    </p:spTree>
    <p:extLst>
      <p:ext uri="{BB962C8B-B14F-4D97-AF65-F5344CB8AC3E}">
        <p14:creationId xmlns:p14="http://schemas.microsoft.com/office/powerpoint/2010/main" val="1255405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B2069EE-A08E-44F0-B3F9-3CF8CC2DC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26740" cy="6857542"/>
          </a:xfrm>
          <a:custGeom>
            <a:avLst/>
            <a:gdLst>
              <a:gd name="connsiteX0" fmla="*/ 0 w 6126740"/>
              <a:gd name="connsiteY0" fmla="*/ 0 h 6857542"/>
              <a:gd name="connsiteX1" fmla="*/ 4980067 w 6126740"/>
              <a:gd name="connsiteY1" fmla="*/ 0 h 6857542"/>
              <a:gd name="connsiteX2" fmla="*/ 4992714 w 6126740"/>
              <a:gd name="connsiteY2" fmla="*/ 31774 h 6857542"/>
              <a:gd name="connsiteX3" fmla="*/ 6047722 w 6126740"/>
              <a:gd name="connsiteY3" fmla="*/ 2682457 h 6857542"/>
              <a:gd name="connsiteX4" fmla="*/ 6047722 w 6126740"/>
              <a:gd name="connsiteY4" fmla="*/ 3752208 h 6857542"/>
              <a:gd name="connsiteX5" fmla="*/ 4890218 w 6126740"/>
              <a:gd name="connsiteY5" fmla="*/ 6660411 h 6857542"/>
              <a:gd name="connsiteX6" fmla="*/ 4811756 w 6126740"/>
              <a:gd name="connsiteY6" fmla="*/ 6857542 h 6857542"/>
              <a:gd name="connsiteX7" fmla="*/ 0 w 6126740"/>
              <a:gd name="connsiteY7" fmla="*/ 6857542 h 68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26740" h="6857542">
                <a:moveTo>
                  <a:pt x="0" y="0"/>
                </a:moveTo>
                <a:lnTo>
                  <a:pt x="4980067" y="0"/>
                </a:lnTo>
                <a:lnTo>
                  <a:pt x="4992714" y="31774"/>
                </a:lnTo>
                <a:cubicBezTo>
                  <a:pt x="6047722" y="2682457"/>
                  <a:pt x="6047722" y="2682457"/>
                  <a:pt x="6047722" y="2682457"/>
                </a:cubicBezTo>
                <a:cubicBezTo>
                  <a:pt x="6153080" y="2988100"/>
                  <a:pt x="6153080" y="3446565"/>
                  <a:pt x="6047722" y="3752208"/>
                </a:cubicBezTo>
                <a:cubicBezTo>
                  <a:pt x="5563735" y="4968215"/>
                  <a:pt x="5185620" y="5918220"/>
                  <a:pt x="4890218" y="6660411"/>
                </a:cubicBezTo>
                <a:lnTo>
                  <a:pt x="4811756" y="6857542"/>
                </a:lnTo>
                <a:lnTo>
                  <a:pt x="0" y="68575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AC337-351C-4EA0-A8E1-AD0D4B7DD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90" y="1289146"/>
            <a:ext cx="4153626" cy="4279709"/>
          </a:xfrm>
        </p:spPr>
        <p:txBody>
          <a:bodyPr anchor="ctr">
            <a:normAutofit/>
          </a:bodyPr>
          <a:lstStyle/>
          <a:p>
            <a:pPr algn="r"/>
            <a:r>
              <a:rPr lang="en-US" sz="5400">
                <a:solidFill>
                  <a:schemeClr val="bg1"/>
                </a:solidFill>
              </a:rPr>
              <a:t>Subsystems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12BF2FB-8A96-4B53-86A0-04755C545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3027" y="681628"/>
            <a:ext cx="1562267" cy="1172973"/>
            <a:chOff x="7493121" y="1000124"/>
            <a:chExt cx="1562267" cy="1172973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893D4739-55F8-4E73-8F98-AF42D54BD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312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AA190F-FB42-4BED-8AA1-A5A01B43C9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29322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88B2C-8810-4ABB-9001-2EB83AE4C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4140" y="1854601"/>
            <a:ext cx="4776711" cy="3148798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400" dirty="0"/>
              <a:t>Drivetrain</a:t>
            </a:r>
          </a:p>
          <a:p>
            <a:r>
              <a:rPr lang="en-US" sz="2400" dirty="0"/>
              <a:t>Intake</a:t>
            </a:r>
          </a:p>
          <a:p>
            <a:r>
              <a:rPr lang="en-US" sz="2400" dirty="0"/>
              <a:t>Conveyor</a:t>
            </a:r>
          </a:p>
          <a:p>
            <a:r>
              <a:rPr lang="en-US" sz="2400" dirty="0"/>
              <a:t>Turret</a:t>
            </a:r>
          </a:p>
          <a:p>
            <a:r>
              <a:rPr lang="en-US" sz="2400" dirty="0"/>
              <a:t>Blaster</a:t>
            </a:r>
          </a:p>
          <a:p>
            <a:r>
              <a:rPr lang="en-US" sz="2400" dirty="0"/>
              <a:t>Gondola</a:t>
            </a:r>
          </a:p>
          <a:p>
            <a:r>
              <a:rPr lang="en-US" sz="2400" dirty="0"/>
              <a:t>Control Panel</a:t>
            </a:r>
          </a:p>
          <a:p>
            <a:r>
              <a:rPr lang="en-US" sz="2400" dirty="0"/>
              <a:t>Vision</a:t>
            </a:r>
          </a:p>
        </p:txBody>
      </p:sp>
    </p:spTree>
    <p:extLst>
      <p:ext uri="{BB962C8B-B14F-4D97-AF65-F5344CB8AC3E}">
        <p14:creationId xmlns:p14="http://schemas.microsoft.com/office/powerpoint/2010/main" val="3157623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708407-D01D-4E57-8998-FF799DBC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93A784-E5B5-4B13-BCE8-B3FE405CE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23" y="1622066"/>
            <a:ext cx="3554226" cy="2663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Drivetrain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963B07-5C9E-478C-A53E-B6F5B4A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" name="Picture 2" descr="FRC Robot Models for Learning CAD with SolidWorks">
            <a:extLst>
              <a:ext uri="{FF2B5EF4-FFF2-40B4-BE49-F238E27FC236}">
                <a16:creationId xmlns:a16="http://schemas.microsoft.com/office/drawing/2014/main" id="{BED4FAAE-558F-458C-8A10-5C7DE6AC87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51" b="22581"/>
          <a:stretch/>
        </p:blipFill>
        <p:spPr bwMode="auto">
          <a:xfrm>
            <a:off x="5208104" y="1316075"/>
            <a:ext cx="6472362" cy="3639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6657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708407-D01D-4E57-8998-FF799DBC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DC017-133A-481E-82DC-00CE5FE67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23" y="1622066"/>
            <a:ext cx="3554226" cy="2663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Two Common Types of Drivetrains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F963B07-5C9E-478C-A53E-B6F5B4A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0469C3F-1615-4667-BD41-360450186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189" y="0"/>
            <a:ext cx="2890803" cy="30824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3B45FE-9F06-4163-9E10-C826ECB35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260" y="3289350"/>
            <a:ext cx="3286125" cy="3228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3A2BFB-6BC7-4C32-8B2D-3C761BC1098E}"/>
              </a:ext>
            </a:extLst>
          </p:cNvPr>
          <p:cNvSpPr txBox="1"/>
          <p:nvPr/>
        </p:nvSpPr>
        <p:spPr>
          <a:xfrm>
            <a:off x="8480323" y="1166934"/>
            <a:ext cx="1261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Tank drive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FE809F-3123-475E-94E2-ED3E601C2E31}"/>
              </a:ext>
            </a:extLst>
          </p:cNvPr>
          <p:cNvSpPr txBox="1"/>
          <p:nvPr/>
        </p:nvSpPr>
        <p:spPr>
          <a:xfrm>
            <a:off x="6975893" y="5001514"/>
            <a:ext cx="1229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Mecanum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674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708407-D01D-4E57-8998-FF799DBC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C1211-46AF-48EF-8055-4C8E5FE84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23" y="1622066"/>
            <a:ext cx="3554226" cy="2663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Intake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F963B07-5C9E-478C-A53E-B6F5B4A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026" name="Picture 2" descr="AdamBots FRC &amp;amp; OCCRA Team 245">
            <a:extLst>
              <a:ext uri="{FF2B5EF4-FFF2-40B4-BE49-F238E27FC236}">
                <a16:creationId xmlns:a16="http://schemas.microsoft.com/office/drawing/2014/main" id="{C2343F7B-D251-46C5-AB20-339D264F0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93085" y="113282"/>
            <a:ext cx="6472362" cy="432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4D3D35D1-BC78-4900-B653-42D38AFDD59C}"/>
              </a:ext>
            </a:extLst>
          </p:cNvPr>
          <p:cNvSpPr/>
          <p:nvPr/>
        </p:nvSpPr>
        <p:spPr>
          <a:xfrm rot="2396637">
            <a:off x="6463180" y="1250923"/>
            <a:ext cx="921774" cy="71529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22DF86A-499C-4ABB-970C-5588BB58A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815" y="3542580"/>
            <a:ext cx="4680357" cy="3117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6469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708407-D01D-4E57-8998-FF799DBC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C1211-46AF-48EF-8055-4C8E5FE84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23" y="1622066"/>
            <a:ext cx="3554226" cy="2663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Intake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F963B07-5C9E-478C-A53E-B6F5B4A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074" name="Picture 2" descr="AdamBots FRC &amp;amp; OCCRA Team 245">
            <a:extLst>
              <a:ext uri="{FF2B5EF4-FFF2-40B4-BE49-F238E27FC236}">
                <a16:creationId xmlns:a16="http://schemas.microsoft.com/office/drawing/2014/main" id="{8F8AFA4D-6FF9-41D7-8DBA-E9B9C12B6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861" y="1368724"/>
            <a:ext cx="6285587" cy="419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4D3D35D1-BC78-4900-B653-42D38AFDD59C}"/>
              </a:ext>
            </a:extLst>
          </p:cNvPr>
          <p:cNvSpPr/>
          <p:nvPr/>
        </p:nvSpPr>
        <p:spPr>
          <a:xfrm rot="19579135">
            <a:off x="7578864" y="3792837"/>
            <a:ext cx="921774" cy="71529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44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708407-D01D-4E57-8998-FF799DBC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C1211-46AF-48EF-8055-4C8E5FE84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23" y="1622066"/>
            <a:ext cx="3554226" cy="2663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Turret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F963B07-5C9E-478C-A53E-B6F5B4A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074" name="Picture 2" descr="AdamBots FRC &amp;amp; OCCRA Team 245">
            <a:extLst>
              <a:ext uri="{FF2B5EF4-FFF2-40B4-BE49-F238E27FC236}">
                <a16:creationId xmlns:a16="http://schemas.microsoft.com/office/drawing/2014/main" id="{8F8AFA4D-6FF9-41D7-8DBA-E9B9C12B6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861" y="1368724"/>
            <a:ext cx="6285587" cy="419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4D3D35D1-BC78-4900-B653-42D38AFDD59C}"/>
              </a:ext>
            </a:extLst>
          </p:cNvPr>
          <p:cNvSpPr/>
          <p:nvPr/>
        </p:nvSpPr>
        <p:spPr>
          <a:xfrm rot="19579135">
            <a:off x="6894501" y="2596261"/>
            <a:ext cx="921774" cy="71529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34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708407-D01D-4E57-8998-FF799DBC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C1211-46AF-48EF-8055-4C8E5FE84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23" y="1622066"/>
            <a:ext cx="3554226" cy="2663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Blaster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F963B07-5C9E-478C-A53E-B6F5B4A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074" name="Picture 2" descr="AdamBots FRC &amp;amp; OCCRA Team 245">
            <a:extLst>
              <a:ext uri="{FF2B5EF4-FFF2-40B4-BE49-F238E27FC236}">
                <a16:creationId xmlns:a16="http://schemas.microsoft.com/office/drawing/2014/main" id="{8F8AFA4D-6FF9-41D7-8DBA-E9B9C12B6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861" y="1368724"/>
            <a:ext cx="6285587" cy="419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4D3D35D1-BC78-4900-B653-42D38AFDD59C}"/>
              </a:ext>
            </a:extLst>
          </p:cNvPr>
          <p:cNvSpPr/>
          <p:nvPr/>
        </p:nvSpPr>
        <p:spPr>
          <a:xfrm rot="11944999">
            <a:off x="8907333" y="2325967"/>
            <a:ext cx="921774" cy="71529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44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708407-D01D-4E57-8998-FF799DBC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C1211-46AF-48EF-8055-4C8E5FE84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23" y="1622066"/>
            <a:ext cx="3554226" cy="2663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Gondola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F963B07-5C9E-478C-A53E-B6F5B4A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026" name="Picture 2" descr="AdamBots FRC &amp;amp; OCCRA Team 245">
            <a:extLst>
              <a:ext uri="{FF2B5EF4-FFF2-40B4-BE49-F238E27FC236}">
                <a16:creationId xmlns:a16="http://schemas.microsoft.com/office/drawing/2014/main" id="{C2343F7B-D251-46C5-AB20-339D264F0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21239" y="138741"/>
            <a:ext cx="6472362" cy="432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4D3D35D1-BC78-4900-B653-42D38AFDD59C}"/>
              </a:ext>
            </a:extLst>
          </p:cNvPr>
          <p:cNvSpPr/>
          <p:nvPr/>
        </p:nvSpPr>
        <p:spPr>
          <a:xfrm rot="2396637">
            <a:off x="6995183" y="212458"/>
            <a:ext cx="921774" cy="71529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1B550E6-F478-49BB-9F99-74530D19C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253" y="2090732"/>
            <a:ext cx="3157747" cy="473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973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708407-D01D-4E57-8998-FF799DBC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C1211-46AF-48EF-8055-4C8E5FE84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23" y="1622066"/>
            <a:ext cx="3554226" cy="2663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Control Panel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F963B07-5C9E-478C-A53E-B6F5B4A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026" name="Picture 2" descr="AdamBots FRC &amp;amp; OCCRA Team 245">
            <a:extLst>
              <a:ext uri="{FF2B5EF4-FFF2-40B4-BE49-F238E27FC236}">
                <a16:creationId xmlns:a16="http://schemas.microsoft.com/office/drawing/2014/main" id="{C2343F7B-D251-46C5-AB20-339D264F0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21239" y="138741"/>
            <a:ext cx="6472362" cy="432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4D3D35D1-BC78-4900-B653-42D38AFDD59C}"/>
              </a:ext>
            </a:extLst>
          </p:cNvPr>
          <p:cNvSpPr/>
          <p:nvPr/>
        </p:nvSpPr>
        <p:spPr>
          <a:xfrm rot="11894648">
            <a:off x="8973507" y="1604187"/>
            <a:ext cx="921774" cy="71529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112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E708407-D01D-4E57-8998-FF799DBC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C1211-46AF-48EF-8055-4C8E5FE84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23" y="1622066"/>
            <a:ext cx="3554226" cy="2663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Vision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F963B07-5C9E-478C-A53E-B6F5B4A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40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6146" name="Picture 2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90359630-E527-49CA-9376-C05BD9079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95049" y="609531"/>
            <a:ext cx="3922143" cy="5875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E4816FFE-321B-43B1-8D4F-0E6990C9FEE0}"/>
              </a:ext>
            </a:extLst>
          </p:cNvPr>
          <p:cNvSpPr/>
          <p:nvPr/>
        </p:nvSpPr>
        <p:spPr>
          <a:xfrm rot="11894648">
            <a:off x="8754973" y="2932654"/>
            <a:ext cx="921774" cy="71529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57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B2069EE-A08E-44F0-B3F9-3CF8CC2DC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26740" cy="6857542"/>
          </a:xfrm>
          <a:custGeom>
            <a:avLst/>
            <a:gdLst>
              <a:gd name="connsiteX0" fmla="*/ 0 w 6126740"/>
              <a:gd name="connsiteY0" fmla="*/ 0 h 6857542"/>
              <a:gd name="connsiteX1" fmla="*/ 4980067 w 6126740"/>
              <a:gd name="connsiteY1" fmla="*/ 0 h 6857542"/>
              <a:gd name="connsiteX2" fmla="*/ 4992714 w 6126740"/>
              <a:gd name="connsiteY2" fmla="*/ 31774 h 6857542"/>
              <a:gd name="connsiteX3" fmla="*/ 6047722 w 6126740"/>
              <a:gd name="connsiteY3" fmla="*/ 2682457 h 6857542"/>
              <a:gd name="connsiteX4" fmla="*/ 6047722 w 6126740"/>
              <a:gd name="connsiteY4" fmla="*/ 3752208 h 6857542"/>
              <a:gd name="connsiteX5" fmla="*/ 4890218 w 6126740"/>
              <a:gd name="connsiteY5" fmla="*/ 6660411 h 6857542"/>
              <a:gd name="connsiteX6" fmla="*/ 4811756 w 6126740"/>
              <a:gd name="connsiteY6" fmla="*/ 6857542 h 6857542"/>
              <a:gd name="connsiteX7" fmla="*/ 0 w 6126740"/>
              <a:gd name="connsiteY7" fmla="*/ 6857542 h 68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26740" h="6857542">
                <a:moveTo>
                  <a:pt x="0" y="0"/>
                </a:moveTo>
                <a:lnTo>
                  <a:pt x="4980067" y="0"/>
                </a:lnTo>
                <a:lnTo>
                  <a:pt x="4992714" y="31774"/>
                </a:lnTo>
                <a:cubicBezTo>
                  <a:pt x="6047722" y="2682457"/>
                  <a:pt x="6047722" y="2682457"/>
                  <a:pt x="6047722" y="2682457"/>
                </a:cubicBezTo>
                <a:cubicBezTo>
                  <a:pt x="6153080" y="2988100"/>
                  <a:pt x="6153080" y="3446565"/>
                  <a:pt x="6047722" y="3752208"/>
                </a:cubicBezTo>
                <a:cubicBezTo>
                  <a:pt x="5563735" y="4968215"/>
                  <a:pt x="5185620" y="5918220"/>
                  <a:pt x="4890218" y="6660411"/>
                </a:cubicBezTo>
                <a:lnTo>
                  <a:pt x="4811756" y="6857542"/>
                </a:lnTo>
                <a:lnTo>
                  <a:pt x="0" y="68575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AC337-351C-4EA0-A8E1-AD0D4B7DD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90" y="1289146"/>
            <a:ext cx="4153626" cy="4279709"/>
          </a:xfrm>
        </p:spPr>
        <p:txBody>
          <a:bodyPr anchor="ctr">
            <a:normAutofit/>
          </a:bodyPr>
          <a:lstStyle/>
          <a:p>
            <a:pPr algn="r"/>
            <a:r>
              <a:rPr lang="en-US" sz="5400" dirty="0">
                <a:solidFill>
                  <a:schemeClr val="bg1"/>
                </a:solidFill>
              </a:rPr>
              <a:t>Controllers and Sensors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12BF2FB-8A96-4B53-86A0-04755C545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3027" y="681628"/>
            <a:ext cx="1562267" cy="1172973"/>
            <a:chOff x="7493121" y="1000124"/>
            <a:chExt cx="1562267" cy="1172973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893D4739-55F8-4E73-8F98-AF42D54BD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312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AA190F-FB42-4BED-8AA1-A5A01B43C9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29322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88B2C-8810-4ABB-9001-2EB83AE4C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4140" y="1854601"/>
            <a:ext cx="4776711" cy="3148798"/>
          </a:xfrm>
        </p:spPr>
        <p:txBody>
          <a:bodyPr anchor="ctr">
            <a:normAutofit/>
          </a:bodyPr>
          <a:lstStyle/>
          <a:p>
            <a:r>
              <a:rPr lang="en-US" sz="1900" dirty="0"/>
              <a:t>Motor Controllers</a:t>
            </a:r>
          </a:p>
          <a:p>
            <a:r>
              <a:rPr lang="en-US" sz="1900" dirty="0"/>
              <a:t>Gyroscope</a:t>
            </a:r>
          </a:p>
          <a:p>
            <a:r>
              <a:rPr lang="en-US" sz="1900" dirty="0"/>
              <a:t>LIDAR</a:t>
            </a:r>
          </a:p>
          <a:p>
            <a:r>
              <a:rPr lang="en-US" sz="1900" dirty="0"/>
              <a:t>Color Sensor</a:t>
            </a:r>
          </a:p>
          <a:p>
            <a:r>
              <a:rPr lang="en-US" sz="1900" dirty="0"/>
              <a:t>Solenoids</a:t>
            </a:r>
          </a:p>
          <a:p>
            <a:r>
              <a:rPr lang="en-US" sz="1900" dirty="0"/>
              <a:t>Limit Switch</a:t>
            </a:r>
          </a:p>
          <a:p>
            <a:r>
              <a:rPr lang="en-US" sz="1900" dirty="0"/>
              <a:t>Photo Eyes</a:t>
            </a: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943539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708407-D01D-4E57-8998-FF799DBC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F84AF-DBEA-4956-8D6B-ED61D5E8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23" y="1622066"/>
            <a:ext cx="3554226" cy="2663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Motor Controllers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F963B07-5C9E-478C-A53E-B6F5B4A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7170" name="Picture 2" descr="Talon SRX">
            <a:extLst>
              <a:ext uri="{FF2B5EF4-FFF2-40B4-BE49-F238E27FC236}">
                <a16:creationId xmlns:a16="http://schemas.microsoft.com/office/drawing/2014/main" id="{9CC6DBE0-9DB0-4D60-ACEE-0669C14AC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0395" y="129196"/>
            <a:ext cx="2938469" cy="293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5001D0-5521-4D16-A597-F4FEC5731ACB}"/>
              </a:ext>
            </a:extLst>
          </p:cNvPr>
          <p:cNvSpPr txBox="1"/>
          <p:nvPr/>
        </p:nvSpPr>
        <p:spPr>
          <a:xfrm>
            <a:off x="4980395" y="3244334"/>
            <a:ext cx="2938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cap="all" dirty="0">
                <a:effectLst/>
                <a:latin typeface="Share-Regular"/>
              </a:rPr>
              <a:t>CTRE TALON SRX</a:t>
            </a:r>
            <a:endParaRPr lang="en-US" dirty="0"/>
          </a:p>
        </p:txBody>
      </p:sp>
      <p:pic>
        <p:nvPicPr>
          <p:cNvPr id="7172" name="Picture 4" descr="Victor SPX">
            <a:extLst>
              <a:ext uri="{FF2B5EF4-FFF2-40B4-BE49-F238E27FC236}">
                <a16:creationId xmlns:a16="http://schemas.microsoft.com/office/drawing/2014/main" id="{20CA4A55-FFE3-4E0A-A99E-C29906E10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3592" y="129196"/>
            <a:ext cx="2960035" cy="2960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72E2A0-F03B-4123-BA1A-C135F3F77864}"/>
              </a:ext>
            </a:extLst>
          </p:cNvPr>
          <p:cNvSpPr txBox="1"/>
          <p:nvPr/>
        </p:nvSpPr>
        <p:spPr>
          <a:xfrm>
            <a:off x="8695157" y="3301844"/>
            <a:ext cx="2938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cap="all" dirty="0">
                <a:effectLst/>
                <a:latin typeface="Share-Regular"/>
              </a:rPr>
              <a:t>CTRE VICTOR SPX</a:t>
            </a:r>
            <a:endParaRPr lang="en-US" dirty="0"/>
          </a:p>
        </p:txBody>
      </p:sp>
      <p:pic>
        <p:nvPicPr>
          <p:cNvPr id="7174" name="Picture 6" descr="Falcon 500 Powered by Talon FX">
            <a:extLst>
              <a:ext uri="{FF2B5EF4-FFF2-40B4-BE49-F238E27FC236}">
                <a16:creationId xmlns:a16="http://schemas.microsoft.com/office/drawing/2014/main" id="{8F4F833A-AA80-4CC1-BAAD-1AE283710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717" y="4046894"/>
            <a:ext cx="2089838" cy="208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E4E4577-7BC1-4E3B-9186-17B448181820}"/>
              </a:ext>
            </a:extLst>
          </p:cNvPr>
          <p:cNvSpPr txBox="1"/>
          <p:nvPr/>
        </p:nvSpPr>
        <p:spPr>
          <a:xfrm>
            <a:off x="6963401" y="6188463"/>
            <a:ext cx="2938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cap="all" dirty="0">
                <a:effectLst/>
                <a:latin typeface="Share-Regular"/>
              </a:rPr>
              <a:t>CTRE Falcon 500 </a:t>
            </a:r>
          </a:p>
          <a:p>
            <a:pPr algn="ctr"/>
            <a:r>
              <a:rPr lang="en-US" b="0" i="0" cap="all" dirty="0">
                <a:effectLst/>
                <a:latin typeface="Share-Regular"/>
              </a:rPr>
              <a:t>w/ Talon FX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712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E708407-D01D-4E57-8998-FF799DBC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F84AF-DBEA-4956-8D6B-ED61D5E8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23" y="1622066"/>
            <a:ext cx="3554226" cy="2663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Gyroscope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F963B07-5C9E-478C-A53E-B6F5B4A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98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6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1A776FB0-696C-46B8-B867-99347EFA8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722" y="896111"/>
            <a:ext cx="4435125" cy="447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708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2" name="Rectangle 191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E708407-D01D-4E57-8998-FF799DBC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F84AF-DBEA-4956-8D6B-ED61D5E8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23" y="1622066"/>
            <a:ext cx="3554226" cy="2663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LIDAR</a:t>
            </a: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7F963B07-5C9E-478C-A53E-B6F5B4A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95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9218" name="Picture 2" descr="LIDAR - Hardware — FIRST Robotics Competition documentation">
            <a:extLst>
              <a:ext uri="{FF2B5EF4-FFF2-40B4-BE49-F238E27FC236}">
                <a16:creationId xmlns:a16="http://schemas.microsoft.com/office/drawing/2014/main" id="{F1306D36-1A42-4166-BBE9-E8A1AE1F3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44524" y="357796"/>
            <a:ext cx="2780940" cy="3233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1DFBE476-ABA4-436F-BF0A-5F9C36612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38535" y="552022"/>
            <a:ext cx="3922143" cy="5875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F7ADC315-2803-436E-A736-DD7BCB02AFDF}"/>
              </a:ext>
            </a:extLst>
          </p:cNvPr>
          <p:cNvSpPr/>
          <p:nvPr/>
        </p:nvSpPr>
        <p:spPr>
          <a:xfrm rot="11894648">
            <a:off x="9692376" y="3555311"/>
            <a:ext cx="921774" cy="71529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596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2" name="Rectangle 191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E708407-D01D-4E57-8998-FF799DBC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F84AF-DBEA-4956-8D6B-ED61D5E8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23" y="1622066"/>
            <a:ext cx="3554226" cy="2663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Color Sensor</a:t>
            </a: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7F963B07-5C9E-478C-A53E-B6F5B4A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95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0242" name="Picture 2" descr="Multiple Rev Robotics Color sensors : r/FTC">
            <a:extLst>
              <a:ext uri="{FF2B5EF4-FFF2-40B4-BE49-F238E27FC236}">
                <a16:creationId xmlns:a16="http://schemas.microsoft.com/office/drawing/2014/main" id="{1C0286D1-FEE0-4B5C-81E2-888CFAE1E7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51"/>
          <a:stretch/>
        </p:blipFill>
        <p:spPr bwMode="auto">
          <a:xfrm>
            <a:off x="5992124" y="1047750"/>
            <a:ext cx="4762500" cy="420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9240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2" name="Rectangle 191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E708407-D01D-4E57-8998-FF799DBC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F84AF-DBEA-4956-8D6B-ED61D5E8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23" y="1622066"/>
            <a:ext cx="3554226" cy="2663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Solenoids</a:t>
            </a: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7F963B07-5C9E-478C-A53E-B6F5B4A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95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401F756-CDB2-44A4-A263-FAD8F73A6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854" y="1166934"/>
            <a:ext cx="5553075" cy="2190750"/>
          </a:xfrm>
          <a:prstGeom prst="rect">
            <a:avLst/>
          </a:prstGeom>
        </p:spPr>
      </p:pic>
      <p:pic>
        <p:nvPicPr>
          <p:cNvPr id="11266" name="Picture 2" descr="Small Push Pull Solenoid - TAU-0730TM - BC Robotics">
            <a:extLst>
              <a:ext uri="{FF2B5EF4-FFF2-40B4-BE49-F238E27FC236}">
                <a16:creationId xmlns:a16="http://schemas.microsoft.com/office/drawing/2014/main" id="{A3582A63-D65E-4014-B556-40934B9AA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92" y="3500317"/>
            <a:ext cx="4430248" cy="2934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3228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2" name="Rectangle 191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E708407-D01D-4E57-8998-FF799DBC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F84AF-DBEA-4956-8D6B-ED61D5E8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23" y="1622066"/>
            <a:ext cx="3554226" cy="2663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Limit Switch</a:t>
            </a: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7F963B07-5C9E-478C-A53E-B6F5B4A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95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2290" name="Picture 2" descr="Limit Switches — FRC Programming Done Right 0.2 documentation">
            <a:extLst>
              <a:ext uri="{FF2B5EF4-FFF2-40B4-BE49-F238E27FC236}">
                <a16:creationId xmlns:a16="http://schemas.microsoft.com/office/drawing/2014/main" id="{4AFD4696-AEDD-42E2-9EF2-31984F180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929" y="381000"/>
            <a:ext cx="6096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117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2" name="Rectangle 191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E708407-D01D-4E57-8998-FF799DBC3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F84AF-DBEA-4956-8D6B-ED61D5E8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23" y="1622066"/>
            <a:ext cx="3554226" cy="2663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Photo Eye</a:t>
            </a: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7F963B07-5C9E-478C-A53E-B6F5B4A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95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99B3A72-C093-48A7-A6F0-2AAEF1670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816" y="1213891"/>
            <a:ext cx="4407649" cy="496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35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11226C32-C433-4666-94E8-B92D782F6D79}" vid="{CDA391EF-3327-4046-896C-5641A7E85D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Adambots</Template>
  <TotalTime>236</TotalTime>
  <Words>85</Words>
  <Application>Microsoft Office PowerPoint</Application>
  <PresentationFormat>Widescreen</PresentationFormat>
  <Paragraphs>43</Paragraphs>
  <Slides>21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Share-Regular</vt:lpstr>
      <vt:lpstr>Office Theme</vt:lpstr>
      <vt:lpstr>FRC Robot</vt:lpstr>
      <vt:lpstr>PowerPoint Presentation</vt:lpstr>
      <vt:lpstr>Play field for 2020/2021</vt:lpstr>
      <vt:lpstr>Subsystems</vt:lpstr>
      <vt:lpstr>Drivetrain</vt:lpstr>
      <vt:lpstr>Two Common Types of Drivetrains</vt:lpstr>
      <vt:lpstr>Intake</vt:lpstr>
      <vt:lpstr>Intake</vt:lpstr>
      <vt:lpstr>Turret</vt:lpstr>
      <vt:lpstr>Blaster</vt:lpstr>
      <vt:lpstr>Gondola</vt:lpstr>
      <vt:lpstr>Control Panel</vt:lpstr>
      <vt:lpstr>Vision</vt:lpstr>
      <vt:lpstr>Controllers and Sensors</vt:lpstr>
      <vt:lpstr>Motor Controllers</vt:lpstr>
      <vt:lpstr>Gyroscope</vt:lpstr>
      <vt:lpstr>LIDAR</vt:lpstr>
      <vt:lpstr>Color Sensor</vt:lpstr>
      <vt:lpstr>Solenoids</vt:lpstr>
      <vt:lpstr>Limit Switch</vt:lpstr>
      <vt:lpstr>Photo Eye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FRC Robot</dc:title>
  <dc:creator>Bhuvaneswaran, Rajeev</dc:creator>
  <cp:lastModifiedBy>Bhuvaneswaran, Rajeev</cp:lastModifiedBy>
  <cp:revision>1</cp:revision>
  <dcterms:created xsi:type="dcterms:W3CDTF">2021-11-10T18:34:21Z</dcterms:created>
  <dcterms:modified xsi:type="dcterms:W3CDTF">2021-11-10T22:30:33Z</dcterms:modified>
</cp:coreProperties>
</file>